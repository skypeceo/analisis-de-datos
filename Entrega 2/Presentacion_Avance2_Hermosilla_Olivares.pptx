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91440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UNIVERSIDAD DEL DESARROLLO  ·  ANÁLISIS DE DATOS E INFERENCIA ESTADÍSTICA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4630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 de Proyecto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y ocupación de</a:t>
            </a:r>
            <a:endParaRPr lang="en-US" sz="4600" dirty="0"/>
          </a:p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camas complejas en Chile</a:t>
            </a:r>
            <a:endParaRPr lang="en-US" sz="4600" dirty="0"/>
          </a:p>
        </p:txBody>
      </p:sp>
      <p:sp>
        <p:nvSpPr>
          <p:cNvPr id="6" name="Shape 4"/>
          <p:cNvSpPr/>
          <p:nvPr/>
        </p:nvSpPr>
        <p:spPr>
          <a:xfrm>
            <a:off x="731520" y="4206240"/>
            <a:ext cx="2286000" cy="0"/>
          </a:xfrm>
          <a:prstGeom prst="line">
            <a:avLst/>
          </a:prstGeom>
          <a:noFill/>
          <a:ln w="38100">
            <a:solidFill>
              <a:srgbClr val="E76F5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38912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análisis correlacional y multivariado de la red pública</a:t>
            </a:r>
            <a:endParaRPr lang="en-US" sz="1600" dirty="0"/>
          </a:p>
          <a:p>
            <a:pPr indent="0" marL="0">
              <a:buNone/>
            </a:pPr>
            <a:r>
              <a:rPr lang="en-US" sz="1600" i="1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salud (REM20, 2014–2025)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548640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Amalia Hermosilla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Martín Olivares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Cristian García   ·   Ayud. Benjamín Bennet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961120" y="62179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de mayo de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PUNTO DE PARTIDA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cambió desde el Avance 1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34924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554480"/>
            <a:ext cx="5349240" cy="502920"/>
          </a:xfrm>
          <a:prstGeom prst="rect">
            <a:avLst/>
          </a:prstGeom>
          <a:solidFill>
            <a:srgbClr val="E2E8F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preguntas de investigación amplias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Enfoque descriptivo / exploratorio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Correlación de Pearson genérica para todo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hipótesis nula formal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cualitativa: "desigualdad estructural"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897880" y="3291840"/>
            <a:ext cx="6400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5349240" cy="42062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5349240" cy="502920"/>
          </a:xfrm>
          <a:prstGeom prst="rect">
            <a:avLst/>
          </a:prstGeom>
          <a:solidFill>
            <a:srgbClr val="1C72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5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AVANCE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675120" y="228600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pregunta focalizada (Q2)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Inferencia estadística rigurosa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 justificado: Pearson + Spearman + Bootstrap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y H₁ explícitas; α = 0,05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OLS multivariado con controles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cuantitativo replicable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5989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Atendiendo la observación del profesor: asignar método estadístico específico, no Pearson genérico.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Q2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explica ocupación efectiva?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11064240" cy="11887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691640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¿La disponibilidad de camas complejas (UCI+UTI) se asocia linealmente con la proporción de camas complejas efectivamente ocupadas en cada Servicio de Salud, una vez controlados ubicación metropolitana, tamaño de red, estacionalidad y tendencia temporal?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3017520"/>
            <a:ext cx="5486400" cy="28346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16916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NULA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existe asociación lineal estadísticamente significativa entre disponibilidad y ocupación de camas complejas a nivel Servicio-Mes (ρ = 0).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63640" y="3017520"/>
            <a:ext cx="5486400" cy="2834640"/>
          </a:xfrm>
          <a:prstGeom prst="rect">
            <a:avLst/>
          </a:prstGeom>
          <a:solidFill>
            <a:srgbClr val="FFFFFF"/>
          </a:solidFill>
          <a:ln w="254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31546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7406640" y="3246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HIPÓTESIS ALTERNATIVA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492240" y="3931920"/>
            <a:ext cx="5029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asociación lineal positiva significativa, que se mantiene tras controlar por ubicación metropolitana, tamaño de red, estacionalidad y tendencia temporal.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significancia α = 0,05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Y MÉTODO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REM20 (2014–2025) · Panel SSS × Año × Mes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OBSERVACIONES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4.171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SSS × año × mes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29000" y="15544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SERVICIOS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365760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regiones cubiertas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6974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54480"/>
            <a:ext cx="73152" cy="13716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91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537960" y="1965960"/>
            <a:ext cx="2377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años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6537960" y="24688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— 2025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89720" y="1554480"/>
            <a:ext cx="260604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6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189720" y="1554480"/>
            <a:ext cx="73152" cy="13716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18320" y="16916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0" y="19659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UCI + UTI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9418320" y="246888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 complejidad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3246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PROCEDIMIENTO ESTADÍSTICO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749040"/>
            <a:ext cx="2651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31520" y="39319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71600" y="3950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y supuestos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31520" y="4617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Distribuciones, QQ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Linealidad scatter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3383280" y="3749040"/>
            <a:ext cx="2651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566160" y="39319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56616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4206240" y="3950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3566160" y="4617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primario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vía Fisher z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 linealidad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217920" y="3749040"/>
            <a:ext cx="2651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00800" y="39319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40080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38" name="Text 36"/>
          <p:cNvSpPr/>
          <p:nvPr/>
        </p:nvSpPr>
        <p:spPr>
          <a:xfrm>
            <a:off x="7040880" y="3950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 + Boot.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400800" y="4617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Robusto a normalidad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5.000 rep.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 estimador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9052560" y="3749040"/>
            <a:ext cx="2651760" cy="21031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235440" y="3931920"/>
            <a:ext cx="502920" cy="502920"/>
          </a:xfrm>
          <a:prstGeom prst="ellipse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3931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9875520" y="3950208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 multivariado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9235440" y="4617720"/>
            <a:ext cx="22860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 confusores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VIF, residuos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Apoya conclusión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BIVARIADO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 r = 0,9717 (IC95 [0,970; 0,973])</a:t>
            </a:r>
            <a:endParaRPr lang="en-US" sz="3200" dirty="0"/>
          </a:p>
        </p:txBody>
      </p:sp>
      <p:pic>
        <p:nvPicPr>
          <p:cNvPr id="4" name="Image 0" descr="/home/claude/proyecto/figuras/fig_q2_scatter_ic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85800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60807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 (% red) vs Ocupación (% red), n = 4.171.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77724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MÉTODOS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7772400" y="18288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7772400" y="1828800"/>
            <a:ext cx="73152" cy="123444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0" y="1901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PEARSON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955280" y="21488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0,9717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7955280" y="25786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[0,9700; 0,9734]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955280" y="27797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0,001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72400" y="32004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0" y="3200400"/>
            <a:ext cx="73152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55280" y="32735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SPEARMAN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9552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ρ = 0,9452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7955280" y="39502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no paramétrica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7955280" y="41513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 &lt; 0,001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7772400" y="4572000"/>
            <a:ext cx="40233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772400" y="4572000"/>
            <a:ext cx="73152" cy="123444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955280" y="46451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(5K)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7955280" y="48920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r̄ = 0,9717</a:t>
            </a:r>
            <a:endParaRPr lang="en-US" sz="2000" dirty="0"/>
          </a:p>
        </p:txBody>
      </p:sp>
      <p:sp>
        <p:nvSpPr>
          <p:cNvPr id="23" name="Text 20"/>
          <p:cNvSpPr/>
          <p:nvPr/>
        </p:nvSpPr>
        <p:spPr>
          <a:xfrm>
            <a:off x="7955280" y="532180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IC95 [0,9694; 0,9739]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7955280" y="5522976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 confirmada</a:t>
            </a:r>
            <a:endParaRPr lang="en-US" sz="1000" dirty="0"/>
          </a:p>
        </p:txBody>
      </p:sp>
      <p:sp>
        <p:nvSpPr>
          <p:cNvPr id="25" name="Shape 22"/>
          <p:cNvSpPr/>
          <p:nvPr/>
        </p:nvSpPr>
        <p:spPr>
          <a:xfrm>
            <a:off x="7772400" y="5989320"/>
            <a:ext cx="402336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909560" y="5989320"/>
            <a:ext cx="3749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0,944 → 94,4% varianza explicada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MULTIVARIADO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OLS: la asociación sobrevive a los controles</a:t>
            </a:r>
            <a:endParaRPr lang="en-US" sz="3200" dirty="0"/>
          </a:p>
        </p:txBody>
      </p:sp>
      <p:pic>
        <p:nvPicPr>
          <p:cNvPr id="4" name="Image 0" descr="/home/claude/proyecto/figuras/fig_q2_coefs_model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63040"/>
            <a:ext cx="685800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1663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Coeficientes con intervalo de confianza al 95%.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5577840"/>
            <a:ext cx="6858000" cy="7772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557784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0,959   </a:t>
            </a:r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F(5; 4165)</a:t>
            </a:r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19.333   </a:t>
            </a:r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pPr algn="ctr" indent="0" marL="0">
              <a:buNone/>
            </a:pPr>
            <a:r>
              <a:rPr lang="en-US" sz="1000" b="1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 0,001   </a:t>
            </a:r>
            <a:pPr algn="ctr"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│ </a:t>
            </a:r>
            <a:pPr algn="ctr" indent="0" marL="0">
              <a:buNone/>
            </a:pPr>
            <a:r>
              <a:rPr lang="en-US" sz="1000" b="1" spc="2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VIF</a:t>
            </a:r>
            <a:pPr algn="ctr"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&lt; 1,7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7724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INTERPRETACIÓN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772400" y="1828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Disponibilidad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241280" y="1828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772400" y="20848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+0,997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772400" y="23317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mapeo casi 1:1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7772400" y="26334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772400" y="27432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Log(tamaño red)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024128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7772400" y="29992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+1,394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772400" y="3246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economías de escala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7772400" y="35478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0" y="36576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ES_RM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241280" y="36576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7772400" y="39136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−0,715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777240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relativamente menor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772400" y="44622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772400" y="45720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Tendencia anual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10241280" y="4572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★★★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772400" y="48280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−0,072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7772400" y="50749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baja 2014–2025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7772400" y="53766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772400" y="54864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Invierno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10241280" y="54864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7772400" y="574243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+0,077</a:t>
            </a:r>
            <a:endParaRPr lang="en-US" sz="1300" dirty="0"/>
          </a:p>
        </p:txBody>
      </p:sp>
      <p:sp>
        <p:nvSpPr>
          <p:cNvPr id="32" name="Text 29"/>
          <p:cNvSpPr/>
          <p:nvPr/>
        </p:nvSpPr>
        <p:spPr>
          <a:xfrm>
            <a:off x="7772400" y="59893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significativo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7772400" y="6291072"/>
            <a:ext cx="402336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HALLAZGO CENTRAL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5029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red sin holgura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63040"/>
            <a:ext cx="109728" cy="2286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554480"/>
            <a:ext cx="105156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cada punto porcentual adicional de disponibilidad relativa de camas complejas, la ocupación relativa aumenta </a:t>
            </a:r>
            <a:pPr indent="0" marL="0">
              <a:buNone/>
            </a:pPr>
            <a:r>
              <a:rPr lang="en-US" sz="22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0,997 pp</a:t>
            </a:r>
            <a:pPr indent="0" marL="0">
              <a:buNone/>
            </a:pPr>
            <a:r>
              <a:rPr lang="en-US" sz="2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un mapeo casi uno a uno que </a:t>
            </a:r>
            <a:pPr indent="0" marL="0">
              <a:buNone/>
            </a:pPr>
            <a:r>
              <a:rPr lang="en-US" sz="22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mantiene tras controlar tamaño, ubicación, estacionalidad y tendencia.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548640" y="3977640"/>
            <a:ext cx="3794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3977640"/>
            <a:ext cx="3794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82296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reserva ociosa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camas instaladas se utilizan en proporción equivalente a su disponibilidad. La red no tiene margen estructural.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434840" y="3977640"/>
            <a:ext cx="3794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34840" y="3977640"/>
            <a:ext cx="3794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0916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470916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Inversión = uso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70916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Incrementos marginales en oferta de camas complejas se traducen en uso efectivo casi en su totalidad.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321040" y="3977640"/>
            <a:ext cx="379476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21040" y="3977640"/>
            <a:ext cx="3794760" cy="7315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595360" y="41605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8595360" y="461772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no más saturada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595360" y="50749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controlar tamaño de red, la proporción RM es menor (−0,72 pp) — diversificación, no saturación relativa.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1338560" y="644652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76F51"/>
          </a:solidFill>
          <a:ln w="12700">
            <a:solidFill>
              <a:srgbClr val="E76F5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640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Hacia el avance final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210312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2194560" y="210312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con efectos fijos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194560" y="248716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Estimar el modelo con efectos fijos por Servicio y por año para depurar la autocorrelación detectada (DW = 0,49).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63240"/>
            <a:ext cx="1069848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15468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2194560" y="31546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temporales SARIMA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194560" y="353872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si la elasticidad disponibilidad-ocupación ha cambiado significativamente durante 2014–2025.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4114800"/>
            <a:ext cx="1069848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420624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2194560" y="42062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 internacional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2194560" y="459028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el coeficiente de elasticidad con sistemas OCDE para contextualizar el hallazgo y robustecer la inferencia.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5166360"/>
            <a:ext cx="10698480" cy="0"/>
          </a:xfrm>
          <a:prstGeom prst="line">
            <a:avLst/>
          </a:prstGeom>
          <a:noFill/>
          <a:ln w="6350">
            <a:solidFill>
              <a:srgbClr val="1C729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5257800"/>
            <a:ext cx="1371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2194560" y="525780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outliers operativos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2194560" y="5641848"/>
            <a:ext cx="9418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8C5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Identificar Servicios con desviaciones positivas/negativas relevantes — casos de estudio para la presentación final.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31520" y="63550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400" i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Avance 2 — Q2</dc:title>
  <dc:subject>PptxGenJS Presentation</dc:subject>
  <dc:creator>Hermosilla &amp; Olivares</dc:creator>
  <cp:lastModifiedBy>Hermosilla &amp; Olivares</cp:lastModifiedBy>
  <cp:revision>1</cp:revision>
  <dcterms:created xsi:type="dcterms:W3CDTF">2026-05-11T15:44:19Z</dcterms:created>
  <dcterms:modified xsi:type="dcterms:W3CDTF">2026-05-11T15:44:19Z</dcterms:modified>
</cp:coreProperties>
</file>